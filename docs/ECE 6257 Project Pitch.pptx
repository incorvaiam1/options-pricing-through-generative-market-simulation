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Roboto"/>
      <p:regular r:id="rId9"/>
      <p:bold r:id="rId10"/>
      <p:italic r:id="rId11"/>
      <p:boldItalic r:id="rId12"/>
    </p:embeddedFont>
    <p:embeddedFont>
      <p:font typeface="PT Sans Narrow"/>
      <p:regular r:id="rId13"/>
      <p:bold r:id="rId14"/>
    </p:embeddedFont>
    <p:embeddedFont>
      <p:font typeface="Open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italic.fntdata"/><Relationship Id="rId10" Type="http://schemas.openxmlformats.org/officeDocument/2006/relationships/font" Target="fonts/Roboto-bold.fntdata"/><Relationship Id="rId13" Type="http://schemas.openxmlformats.org/officeDocument/2006/relationships/font" Target="fonts/PTSansNarrow-regular.fntdata"/><Relationship Id="rId12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regular.fntdata"/><Relationship Id="rId15" Type="http://schemas.openxmlformats.org/officeDocument/2006/relationships/font" Target="fonts/OpenSans-regular.fntdata"/><Relationship Id="rId14" Type="http://schemas.openxmlformats.org/officeDocument/2006/relationships/font" Target="fonts/PTSansNarrow-bold.fntdata"/><Relationship Id="rId17" Type="http://schemas.openxmlformats.org/officeDocument/2006/relationships/font" Target="fonts/OpenSans-italic.fntdata"/><Relationship Id="rId16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Open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4d9c9bf7b6d0ac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4d9c9bf7b6d0ac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h4d9c9bf7b6d0acb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h4d9c9bf7b6d0acb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h4d9c9bf7b6d0acb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h4d9c9bf7b6d0acb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Background</a:t>
            </a:r>
            <a:endParaRPr b="1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Option: contract giving owner the right to buy/sell an asset at a </a:t>
            </a:r>
            <a:r>
              <a:rPr lang="en" sz="1400"/>
              <a:t>specified</a:t>
            </a:r>
            <a:r>
              <a:rPr lang="en" sz="1400"/>
              <a:t> price in some period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Useful for mitigating risk to a business or making strong directional bets</a:t>
            </a:r>
            <a:br>
              <a:rPr lang="en" sz="1400"/>
            </a:b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Motivation</a:t>
            </a:r>
            <a:endParaRPr b="1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Creating a fair option price is essential for all participants, and a competitive edge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Options are hard to price because:</a:t>
            </a:r>
            <a:endParaRPr sz="14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Many variables (strike price, time, volatility, interest rates, etc..)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Uncertain future outcomes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Non-linear payoff, full price distribution matters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Traditional mathematical models have restrictive assumptions</a:t>
            </a:r>
            <a:endParaRPr sz="14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Ex: Black-Scholes assumes constant volatility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Can a generative model better capture complex market behavior?</a:t>
            </a:r>
            <a:endParaRPr sz="14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Explainability vs. Flexibility</a:t>
            </a:r>
            <a:endParaRPr sz="1400"/>
          </a:p>
        </p:txBody>
      </p:sp>
      <p:sp>
        <p:nvSpPr>
          <p:cNvPr id="67" name="Google Shape;67;p13"/>
          <p:cNvSpPr txBox="1"/>
          <p:nvPr/>
        </p:nvSpPr>
        <p:spPr>
          <a:xfrm>
            <a:off x="83700" y="93000"/>
            <a:ext cx="8919900" cy="7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</a:rPr>
              <a:t>Options Pricing Through Generative Market Simulation</a:t>
            </a:r>
            <a:endParaRPr b="1" sz="2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Kian Chakamian, Michael Incorvaia, Rajan Sandhu, Yosep Rhe</a:t>
            </a:r>
            <a:endParaRPr b="1" sz="1200">
              <a:solidFill>
                <a:schemeClr val="dk2"/>
              </a:solidFill>
            </a:endParaRPr>
          </a:p>
        </p:txBody>
      </p:sp>
      <p:pic>
        <p:nvPicPr>
          <p:cNvPr id="68" name="Google Shape;68;p13"/>
          <p:cNvPicPr preferRelativeResize="0"/>
          <p:nvPr/>
        </p:nvPicPr>
        <p:blipFill rotWithShape="1">
          <a:blip r:embed="rId3">
            <a:alphaModFix/>
          </a:blip>
          <a:srcRect b="17648" l="0" r="0" t="0"/>
          <a:stretch/>
        </p:blipFill>
        <p:spPr>
          <a:xfrm>
            <a:off x="6528525" y="2809675"/>
            <a:ext cx="2529900" cy="208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Idea</a:t>
            </a:r>
            <a:endParaRPr b="1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Use generative model to generate many price movements sequences, then calculate option price using expected value of payoff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Test autoregressive models, normalizing flows, GANs, etc. to find best for this application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Compare generated prices with actual payoffs, current marketplace values, traditional models</a:t>
            </a:r>
            <a:br>
              <a:rPr lang="en" sz="1400"/>
            </a:b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Approach</a:t>
            </a:r>
            <a:endParaRPr b="1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Methods: train model on </a:t>
            </a:r>
            <a:r>
              <a:rPr lang="en" sz="1400"/>
              <a:t>historical price movements, generate new sequences, calculate discounted EV price</a:t>
            </a:r>
            <a:endParaRPr sz="14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Try both individual stocks, clusters of similar stocks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Models: RNADE, Normalizing Flow, GAN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Datasets: </a:t>
            </a:r>
            <a:r>
              <a:rPr lang="en" sz="1400"/>
              <a:t>yfinance (from Yahoo! Finance’s API)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Backtesting: compare prices from our different models against real/traditional prices, Black-Scholes-Merton pricing</a:t>
            </a:r>
            <a:endParaRPr sz="1400"/>
          </a:p>
        </p:txBody>
      </p:sp>
      <p:sp>
        <p:nvSpPr>
          <p:cNvPr id="74" name="Google Shape;74;p14"/>
          <p:cNvSpPr txBox="1"/>
          <p:nvPr/>
        </p:nvSpPr>
        <p:spPr>
          <a:xfrm>
            <a:off x="83700" y="93000"/>
            <a:ext cx="8919900" cy="7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</a:rPr>
              <a:t>Options Pricing Through Generative Market Simulation</a:t>
            </a:r>
            <a:endParaRPr b="1" sz="2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Kian Chakamian, Michael Incorvaia, Rajan Sandhu, Yosep Rhe</a:t>
            </a:r>
            <a:endParaRPr b="1"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311700" y="1152475"/>
            <a:ext cx="8520600" cy="39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Status</a:t>
            </a:r>
            <a:endParaRPr b="1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Complete: Historical data generator, RNADE module, discounted EV calculator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In-Progress: Fine-tuning/improving RNADE model, training normalizing flow and GAN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Timeline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4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400"/>
            </a:b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Expected Outcomes</a:t>
            </a:r>
            <a:endParaRPr b="1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Reasonable options prices when compared against real payoffs, Black-Scholes-Merton pricing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An understanding of which generative models perform best for this application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Testing generative approaches to options pricing application and identifying shortcomings</a:t>
            </a:r>
            <a:endParaRPr sz="1400"/>
          </a:p>
        </p:txBody>
      </p:sp>
      <p:sp>
        <p:nvSpPr>
          <p:cNvPr id="80" name="Google Shape;80;p15"/>
          <p:cNvSpPr txBox="1"/>
          <p:nvPr/>
        </p:nvSpPr>
        <p:spPr>
          <a:xfrm>
            <a:off x="83700" y="93000"/>
            <a:ext cx="8919900" cy="7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</a:rPr>
              <a:t>Options Pricing Through Generative Market Simulation</a:t>
            </a:r>
            <a:endParaRPr b="1" sz="2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Kian Chakamian, Michael Incorvaia, Rajan Sandhu, Yosep Rhe</a:t>
            </a:r>
            <a:endParaRPr b="1" sz="1200">
              <a:solidFill>
                <a:schemeClr val="dk2"/>
              </a:solidFill>
            </a:endParaRPr>
          </a:p>
        </p:txBody>
      </p:sp>
      <p:grpSp>
        <p:nvGrpSpPr>
          <p:cNvPr id="81" name="Google Shape;81;p15"/>
          <p:cNvGrpSpPr/>
          <p:nvPr/>
        </p:nvGrpSpPr>
        <p:grpSpPr>
          <a:xfrm>
            <a:off x="992875" y="2270625"/>
            <a:ext cx="1929550" cy="1618790"/>
            <a:chOff x="988375" y="1574022"/>
            <a:chExt cx="1929550" cy="2315203"/>
          </a:xfrm>
        </p:grpSpPr>
        <p:sp>
          <p:nvSpPr>
            <p:cNvPr id="82" name="Google Shape;82;p15"/>
            <p:cNvSpPr txBox="1"/>
            <p:nvPr/>
          </p:nvSpPr>
          <p:spPr>
            <a:xfrm>
              <a:off x="1255800" y="1574022"/>
              <a:ext cx="9729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i="1" lang="en" sz="9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October 25th</a:t>
              </a:r>
              <a:endParaRPr b="1" i="1" sz="9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3" name="Google Shape;83;p15"/>
            <p:cNvSpPr txBox="1"/>
            <p:nvPr/>
          </p:nvSpPr>
          <p:spPr>
            <a:xfrm>
              <a:off x="988375" y="2695018"/>
              <a:ext cx="1910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Initial Testing and Pitch</a:t>
              </a:r>
              <a:endParaRPr b="1" sz="10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4" name="Google Shape;84;p15"/>
            <p:cNvSpPr txBox="1"/>
            <p:nvPr/>
          </p:nvSpPr>
          <p:spPr>
            <a:xfrm>
              <a:off x="1215700" y="31518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Validate idea with RNADE model test and create pitch</a:t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85" name="Google Shape;85;p15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0D5CD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6" name="Google Shape;86;p15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D5C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942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" name="Google Shape;88;p15"/>
          <p:cNvGrpSpPr/>
          <p:nvPr/>
        </p:nvGrpSpPr>
        <p:grpSpPr>
          <a:xfrm>
            <a:off x="2796475" y="2270425"/>
            <a:ext cx="1834900" cy="1618780"/>
            <a:chOff x="1083025" y="1574037"/>
            <a:chExt cx="1834900" cy="2315188"/>
          </a:xfrm>
        </p:grpSpPr>
        <p:sp>
          <p:nvSpPr>
            <p:cNvPr id="89" name="Google Shape;89;p15"/>
            <p:cNvSpPr txBox="1"/>
            <p:nvPr/>
          </p:nvSpPr>
          <p:spPr>
            <a:xfrm>
              <a:off x="1298000" y="1574037"/>
              <a:ext cx="930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i="1" lang="en" sz="9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November 9th</a:t>
              </a:r>
              <a:endParaRPr b="1" i="1" sz="9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0" name="Google Shape;90;p15"/>
            <p:cNvSpPr txBox="1"/>
            <p:nvPr/>
          </p:nvSpPr>
          <p:spPr>
            <a:xfrm>
              <a:off x="1235825" y="2695025"/>
              <a:ext cx="1505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Model Dev and Tuning</a:t>
              </a:r>
              <a:endParaRPr b="1" sz="10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1" name="Google Shape;91;p15"/>
            <p:cNvSpPr txBox="1"/>
            <p:nvPr/>
          </p:nvSpPr>
          <p:spPr>
            <a:xfrm>
              <a:off x="1215700" y="31518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Compare performance of different models for this task and characterize performance</a:t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92" name="Google Shape;92;p15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0D5CD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3" name="Google Shape;93;p15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D5C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942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" name="Google Shape;95;p15"/>
          <p:cNvGrpSpPr/>
          <p:nvPr/>
        </p:nvGrpSpPr>
        <p:grpSpPr>
          <a:xfrm>
            <a:off x="4508325" y="2270600"/>
            <a:ext cx="1834900" cy="1617845"/>
            <a:chOff x="1083025" y="1574031"/>
            <a:chExt cx="1834900" cy="2315176"/>
          </a:xfrm>
        </p:grpSpPr>
        <p:sp>
          <p:nvSpPr>
            <p:cNvPr id="96" name="Google Shape;96;p15"/>
            <p:cNvSpPr txBox="1"/>
            <p:nvPr/>
          </p:nvSpPr>
          <p:spPr>
            <a:xfrm>
              <a:off x="1206075" y="1574031"/>
              <a:ext cx="1022400" cy="4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i="1" lang="en" sz="9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November 25th</a:t>
              </a:r>
              <a:endParaRPr b="1" i="1" sz="9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7" name="Google Shape;97;p15"/>
            <p:cNvSpPr txBox="1"/>
            <p:nvPr/>
          </p:nvSpPr>
          <p:spPr>
            <a:xfrm>
              <a:off x="1235825" y="2695024"/>
              <a:ext cx="15918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Model </a:t>
              </a:r>
              <a:r>
                <a:rPr b="1" lang="en" sz="10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Characterization</a:t>
              </a:r>
              <a:endParaRPr b="1" sz="10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8" name="Google Shape;98;p15"/>
            <p:cNvSpPr txBox="1"/>
            <p:nvPr/>
          </p:nvSpPr>
          <p:spPr>
            <a:xfrm>
              <a:off x="1146700" y="3151807"/>
              <a:ext cx="16608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Choose a base model, iterate on it for better performance and characterize it for presentation</a:t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99" name="Google Shape;99;p15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0" name="Google Shape;100;p15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C2C2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8585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" name="Google Shape;102;p15"/>
          <p:cNvGrpSpPr/>
          <p:nvPr/>
        </p:nvGrpSpPr>
        <p:grpSpPr>
          <a:xfrm>
            <a:off x="5862025" y="2270650"/>
            <a:ext cx="2194450" cy="1617871"/>
            <a:chOff x="723475" y="1574012"/>
            <a:chExt cx="2194450" cy="2315213"/>
          </a:xfrm>
        </p:grpSpPr>
        <p:sp>
          <p:nvSpPr>
            <p:cNvPr id="103" name="Google Shape;103;p15"/>
            <p:cNvSpPr txBox="1"/>
            <p:nvPr/>
          </p:nvSpPr>
          <p:spPr>
            <a:xfrm>
              <a:off x="1235825" y="2695025"/>
              <a:ext cx="1505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Final Presentation</a:t>
              </a:r>
              <a:endParaRPr b="1" sz="10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4" name="Google Shape;104;p15"/>
            <p:cNvSpPr txBox="1"/>
            <p:nvPr/>
          </p:nvSpPr>
          <p:spPr>
            <a:xfrm>
              <a:off x="1215700" y="31518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Work on final project presentation</a:t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05" name="Google Shape;105;p15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6" name="Google Shape;106;p15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C2C2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8585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5"/>
            <p:cNvSpPr txBox="1"/>
            <p:nvPr/>
          </p:nvSpPr>
          <p:spPr>
            <a:xfrm>
              <a:off x="723475" y="1574012"/>
              <a:ext cx="1505100" cy="46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    </a:t>
              </a:r>
              <a:r>
                <a:rPr b="1" i="1" lang="en" sz="9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Deadline: December 7th</a:t>
              </a:r>
              <a:endParaRPr b="1" i="1" sz="9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